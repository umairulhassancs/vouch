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183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E1830"/>
                </a:solidFill>
                <a:latin typeface="Arial"/>
              </a:rPr>
              <a:t>Global Smart-Tracker Category — Directional Growth Curve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market growth trend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Today</c:v>
                  </c:pt>
                  <c:pt idx="1">
                    <c:v>+2 yrs</c:v>
                  </c:pt>
                  <c:pt idx="2">
                    <c:v>+4 yrs</c:v>
                  </c:pt>
                  <c:pt idx="3">
                    <c:v>+6 yrs</c:v>
                  </c:pt>
                  <c:pt idx="4">
                    <c:v>+8 yrs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25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8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9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" name="Image 0" descr="C:\Users\Umair Ul Hassan\.gemini\antigravity\scratch\vouch-website\slid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86868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Marketing — Project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3401568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0" y="429768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Lost &amp; Found Ecosystem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3524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Ul Hassan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221370060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9292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89020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Waqas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89020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221370068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5060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4788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Zunair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4788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221400101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910828" y="553212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20556" y="5614416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 Waris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020556" y="5934456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251350074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743200"/>
            <a:ext cx="7315200" cy="7315200"/>
          </a:xfrm>
          <a:prstGeom prst="ellipse">
            <a:avLst/>
          </a:prstGeom>
          <a:solidFill>
            <a:srgbClr val="6D28D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7" name="Image 0" descr="C:\Users\Umair Ul Hassan\.gemini\antigravity\scratch\vouch-website\slides\assets\icons\search_lav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05" y="2306665"/>
            <a:ext cx="306141" cy="306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19856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Problem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problem identification &amp; market opportunity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61688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3" name="Image 1" descr="C:\Users\Umair Ul Hassan\.gemini\antigravity\scratch\vouch-website\slides\assets\icons\bulb_lav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113" y="2306665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17720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ecosystem, product line &amp; platform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83296" y="1920240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9328" y="2176272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19" name="Image 2" descr="C:\Users\Umair Ul Hassan\.gemini\antigravity\scratch\vouch-website\slides\assets\icons\users_lav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721" y="2306665"/>
            <a:ext cx="306141" cy="306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63072" y="2121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39328" y="2852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39328" y="320040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segments, personas &amp; SWOT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6112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5" name="Image 3" descr="C:\Users\Umair Ul Hassan\.gemini\antigravity\scratch\vouch-website\slides\assets\icons\compass_laven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05" y="4437217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19856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96112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96112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STP, value proposition, positioning &amp; branding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61688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17720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31" name="Image 4" descr="C:\Users\Umair Ul Hassan\.gemini\antigravity\scratch\vouch-website\slides\assets\icons\dollar_laven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3" y="4437217"/>
            <a:ext cx="306141" cy="30614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41464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617720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Mix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617720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promotion &amp; distribution (place)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083296" y="4050792"/>
            <a:ext cx="3465576" cy="1874520"/>
          </a:xfrm>
          <a:prstGeom prst="roundRect">
            <a:avLst>
              <a:gd name="adj" fmla="val 4878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39328" y="4306824"/>
            <a:ext cx="566928" cy="566928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37" name="Image 5" descr="C:\Users\Umair Ul Hassan\.gemini\antigravity\scratch\vouch-website\slides\assets\icons\flag_laven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721" y="4437217"/>
            <a:ext cx="306141" cy="30614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863072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84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339328" y="49834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339328" y="533095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view, challenges, roadmap &amp; takeaways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Vouch?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is a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Smart Lost &amp; Found ecosystem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around QR and GPS-enabled keychains. When someone loses a belonging, a finder simply scans the QR code — no app required — and the owner is notified instantly with time, location, and a secure message option, without ever revealing personal information to the finder.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sells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products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price points — from an adhesive QR sticker to a premium GPS keychain — backed by a freemium app and website, serving students, professionals, families and travellers.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6309360" cy="1417320"/>
          </a:xfrm>
          <a:prstGeom prst="roundRect">
            <a:avLst>
              <a:gd name="adj" fmla="val 580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6177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brand promise driving every product decision, message and interaction.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60020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182880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1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254" y="1986534"/>
            <a:ext cx="370332" cy="3703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58200" y="17465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58200" y="2221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60920" y="301752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6" name="Image 1" descr="C:\Users\Umair Ul Hassan\.gemini\antigravity\scratch\vouch-website\slides\assets\icons\dolla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254" y="3403854"/>
            <a:ext cx="370332" cy="3703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58200" y="31638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199–3,499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45820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360920" y="443484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589520" y="4663440"/>
            <a:ext cx="685800" cy="6858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21" name="Image 2" descr="C:\Users\Umair Ul Hassan\.gemini\antigravity\scratch\vouch-website\slides\assets\icons\phon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54" y="4821174"/>
            <a:ext cx="370332" cy="3703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58200" y="45811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458200" y="5056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Conducted Our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began with lived, everyday experience rather than a desk study — then we validated it with peers before designing the product.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29" y="2489545"/>
            <a:ext cx="306141" cy="306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72334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Observation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2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own hostel rooms and homes, we repeatedly struggled to find car keys, bike keys, and house keys — misplaced within the room or dropped just outside. This first-hand frustration was the spark for Vouch.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3431286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0742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C:\Users\Umair Ul Hassan\.gemini\antigravity\scratch\vouch-website\slides\assets\icons\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135" y="2489545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3540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0742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Interviews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0742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2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discussed the problem informally with friends and classmates. The pattern repeated: nearly everyone had a story of losing keys, wallets, or ID cards, often more than once.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6222492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1948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C:\Users\Umair Ul Hassan\.gemini\antigravity\scratch\vouch-website\slides\assets\icons\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41" y="2489545"/>
            <a:ext cx="306141" cy="306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54746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1948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Survey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41948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2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gathered quick feedback from ~40 students and hostel residents on frequency of loss, current coping habits, and willingness to pay for a solution — used directionally, not as formal statistics.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9013698" y="2103120"/>
            <a:ext cx="2535174" cy="393192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33154" y="23591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3" descr="C:\Users\Umair Ul Hassan\.gemini\antigravity\scratch\vouch-website\slides\assets\icons\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547" y="2489545"/>
            <a:ext cx="306141" cy="30614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45952" y="2322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33154" y="306324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Scan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233154" y="3611880"/>
            <a:ext cx="209626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2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reviewed existing options — Apple AirTag, Tile, and handwritten phone-number tags — to understand pricing, privacy gaps, and accessibility issues in the local market.</a:t>
            </a:r>
            <a:endParaRPr lang="en-US" sz="102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Everyday Problem We're Solving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keys, wallets, bags, or other everyday items is one of the most common and frustrating experiences people face — ranging from a minor inconvenience to a serious loss of IDs, passports, or medical items.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" name="Image 0" descr="C:\Users\Umair Ul Hassan\.gemini\antigravity\scratch\vouch-website\slides\assets\icons\aler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8003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670048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trackers (AirTag, Tile) require a smartphone, cost more, and raise privacy concerns for the finder.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9" name="Image 1" descr="C:\Users\Umair Ul Hassan\.gemini\antigravity\scratch\vouch-website\slides\assets\icons\ey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45871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328416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phone number on a keychain exposes personal data to any stranger who finds it.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40080" y="4014216"/>
            <a:ext cx="457200" cy="45720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2" name="Image 2" descr="C:\Users\Umair Ul Hassan\.gemini\antigravity\scratch\vouch-website\slides\assets\icons\glob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11708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986784"/>
            <a:ext cx="5715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affordable, privacy-focused, locally accessible solution exists in markets like Pakistan.</a:t>
            </a:r>
            <a:endParaRPr lang="en-US" sz="1180" dirty="0"/>
          </a:p>
        </p:txBody>
      </p:sp>
      <p:sp>
        <p:nvSpPr>
          <p:cNvPr id="14" name="Shape 9"/>
          <p:cNvSpPr/>
          <p:nvPr/>
        </p:nvSpPr>
        <p:spPr>
          <a:xfrm>
            <a:off x="7315200" y="1572768"/>
            <a:ext cx="4251960" cy="4617720"/>
          </a:xfrm>
          <a:prstGeom prst="roundRect">
            <a:avLst>
              <a:gd name="adj" fmla="val 1935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63524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SNAPSHOT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635240" y="2084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survey of ~40 students &amp; hostel residents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635240" y="26060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77824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keys/wallet at least monthly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7635240" y="331927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778240" y="3319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misplaced items inside their own home/hostel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7635240" y="403250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778240" y="40325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use no protection method at all</a:t>
            </a:r>
            <a:endParaRPr lang="en-US" sz="1080" dirty="0"/>
          </a:p>
        </p:txBody>
      </p:sp>
      <p:sp>
        <p:nvSpPr>
          <p:cNvPr id="23" name="Text 18"/>
          <p:cNvSpPr/>
          <p:nvPr/>
        </p:nvSpPr>
        <p:spPr>
          <a:xfrm>
            <a:off x="7635240" y="474573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778240" y="4745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try an affordable QR tag if available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7635240" y="5477256"/>
            <a:ext cx="361188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635240" y="55961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insight from our own research process — not a published statistic.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Market, an Underserved Segment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market-research reports place the global smart tracker category in the hundreds of millions to low billions of dollars today, with most forecasts pointing to sustained double-digit annual growth (CAGR) through the early 2030s — but coverage of affordable, privacy-first solutions for developing markets remains thin.</a:t>
            </a:r>
            <a:endParaRPr lang="en-US" sz="123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423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242316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65392" y="2624328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C:\Users\Umair Ul Hassan\.gemini\antigravity\scratch\vouch-website\slides\assets\icons\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17" y="2775753"/>
            <a:ext cx="355519" cy="355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640" y="25328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first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06640" y="28529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geographic focus with clear scalability into other South Asian markets.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355080" y="3666744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3867912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C:\Users\Umair Ul Hassan\.gemini\antigravity\scratch\vouch-website\slides\assets\icons\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17" y="4019337"/>
            <a:ext cx="355519" cy="3555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3776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need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406640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 who carries keys, a wallet, a bag, or valuables is an addressable customer.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55080" y="4910328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65392" y="5111496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C:\Users\Umair Ul Hassan\.gemini\antigravity\scratch\vouch-website\slides\assets\icons\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817" y="5262921"/>
            <a:ext cx="355519" cy="355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6640" y="50200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406640" y="534009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trackers (AirTag/Tile) price out students &amp; everyday consumers in developing markets — Vouch's tiers start far lower.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Vouch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keychain — a complete privacy-first ecosystem. All products connect to one platform, share the same secure contact system, and deliver the same instant notification experience.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C:\Users\Umair Ul Hassan\.gemini\antigravity\scratch\vouch-website\slides\assets\icons\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7285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a QR sticker or clip a keychain onto anything you value — keys, wallet, bag, laptop.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087368" y="2999232"/>
            <a:ext cx="402336" cy="402336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1" name="Image 1" descr="C:\Users\Umair Ul Hassan\.gemini\antigravity\scratch\vouch-website\slides\assets\icons\arr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94" y="3089758"/>
            <a:ext cx="221285" cy="22128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233172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2" descr="C:\Users\Umair Ul Hassan\.gemini\antigravity\scratch\vouch-website\slides\assets\icons\qr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30" y="272857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983480" y="36301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finder scans the QR with any phone camera. No app needed. They land on a private contact page.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8202168" y="2999232"/>
            <a:ext cx="402336" cy="402336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8" name="Image 3" descr="C:\Users\Umair Ul Hassan\.gemini\antigravity\scratch\vouch-website\slides\assets\icons\arrow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694" y="3089758"/>
            <a:ext cx="221285" cy="22128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869680" y="233172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098280" y="25603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4" descr="C:\Users\Umair Ul Hassan\.gemini\antigravity\scratch\vouch-website\slides\assets\icons\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530" y="2728570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9828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9098280" y="36301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gets an instant notification with time, location &amp; a secure message — identity fully protected.</a:t>
            </a:r>
            <a:endParaRPr lang="en-US" sz="980" dirty="0"/>
          </a:p>
        </p:txBody>
      </p:sp>
      <p:sp>
        <p:nvSpPr>
          <p:cNvPr id="24" name="Shape 17"/>
          <p:cNvSpPr/>
          <p:nvPr/>
        </p:nvSpPr>
        <p:spPr>
          <a:xfrm>
            <a:off x="640080" y="4343400"/>
            <a:ext cx="10908792" cy="1508760"/>
          </a:xfrm>
          <a:prstGeom prst="roundRect">
            <a:avLst>
              <a:gd name="adj" fmla="val 5455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14400" y="4645152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6" name="Image 5" descr="C:\Users\Umair Ul Hassan\.gemini\antigravity\scratch\vouch-website\slides\assets\icons\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1" y="4834433"/>
            <a:ext cx="444398" cy="4443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455371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Design — Vouch's Strongest Differentiator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1965960" y="493776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finder scans a Vouch QR, they see a secure contact page — never a real name, phone number, or address. The owner controls exactly what's shared: first name only, masked-number calling, or emergency contact info for critical items.</a:t>
            </a:r>
            <a:endParaRPr lang="en-US" sz="113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1907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6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157" y="215249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Sticker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199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adhesive label. No battery. Best for minimalists &amp; gifting.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31286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3113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3" name="Image 1" descr="C:\Users\Umair Ul Hassan\.gemini\antigravity\scratch\vouch-website\slides\assets\icons\key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363" y="2152498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8446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Keychain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68446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299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705606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32454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branded keychain, premium build. Ideal for house, car &amp; office keys.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22492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4319" y="1984248"/>
            <a:ext cx="731520" cy="731520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20" name="Image 2" descr="C:\Users\Umair Ul Hassan\.gemini\antigravity\scratch\vouch-website\slides\assets\icons\volum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569" y="2152498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9652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Whistle Keychain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59652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1,299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96812" y="3813048"/>
            <a:ext cx="1986534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23660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when it detects a whistle — no app needed to trigger. Great for items lost at home.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13698" y="1691640"/>
            <a:ext cx="2535174" cy="4251960"/>
          </a:xfrm>
          <a:prstGeom prst="roundRect">
            <a:avLst>
              <a:gd name="adj" fmla="val 324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15525" y="1984248"/>
            <a:ext cx="731520" cy="731520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7" name="Image 3" descr="C:\Users\Umair Ul Hassan\.gemini\antigravity\scratch\vouch-website\slides\assets\icons\satelli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3775" y="2152498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0858" y="2880360"/>
            <a:ext cx="2260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Ring Keychain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50858" y="3355848"/>
            <a:ext cx="22608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2,999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288018" y="3813048"/>
            <a:ext cx="1986534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14866" y="3977640"/>
            <a:ext cx="213283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+ real GPS tracking. Remote ring &amp; live map location. For travellers &amp; pros.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714357" y="1801368"/>
            <a:ext cx="1133856" cy="256032"/>
          </a:xfrm>
          <a:prstGeom prst="roundRect">
            <a:avLst>
              <a:gd name="adj" fmla="val 21429"/>
            </a:avLst>
          </a:prstGeom>
          <a:solidFill>
            <a:srgbClr val="F0B429"/>
          </a:solidFill>
          <a:ln/>
        </p:spPr>
      </p:sp>
      <p:sp>
        <p:nvSpPr>
          <p:cNvPr id="33" name="Text 27"/>
          <p:cNvSpPr/>
          <p:nvPr/>
        </p:nvSpPr>
        <p:spPr>
          <a:xfrm>
            <a:off x="9714357" y="180136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51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connect to the same app &amp; website: multi-item dashboard, Lost/Safe toggle, instant alerts, scan log, and secure finder messaging.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Vouch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3545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6911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C:\Users\Umair Ul Hassan\.gemini\antigravity\scratch\vouch-website\slides\assets\icons\gr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923" y="1926092"/>
            <a:ext cx="335768" cy="33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749808" y="288036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losing keys, bags &amp; stationery. Price-sensitive, heavy smartphone users.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2858414" y="1600200"/>
            <a:ext cx="203545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5246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1" name="Image 1" descr="C:\Users\Umair Ul Hassan\.gemini\antigravity\scratch\vouch-website\slides\assets\icons\briefc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258" y="1926092"/>
            <a:ext cx="335768" cy="335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9854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2968142" y="288036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schedules, multiple keys (home/car/office). Value convenience &amp; privacy.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5076749" y="1600200"/>
            <a:ext cx="203545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C:\Users\Umair Ul Hassan\.gemini\antigravity\scratch\vouch-website\slides\assets\icons\ho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592" y="1926092"/>
            <a:ext cx="335768" cy="335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8189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5186477" y="288036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tracking kids' school bags; elderly members who misplace items often.</a:t>
            </a:r>
            <a:endParaRPr lang="en-US" sz="860" dirty="0"/>
          </a:p>
        </p:txBody>
      </p:sp>
      <p:sp>
        <p:nvSpPr>
          <p:cNvPr id="19" name="Shape 14"/>
          <p:cNvSpPr/>
          <p:nvPr/>
        </p:nvSpPr>
        <p:spPr>
          <a:xfrm>
            <a:off x="7295083" y="1600200"/>
            <a:ext cx="203545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914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C:\Users\Umair Ul Hassan\.gemini\antigravity\scratch\vouch-website\slides\assets\icons\pla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927" y="1926092"/>
            <a:ext cx="335768" cy="335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6523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1130" dirty="0"/>
          </a:p>
        </p:txBody>
      </p:sp>
      <p:sp>
        <p:nvSpPr>
          <p:cNvPr id="23" name="Text 17"/>
          <p:cNvSpPr/>
          <p:nvPr/>
        </p:nvSpPr>
        <p:spPr>
          <a:xfrm>
            <a:off x="7404811" y="288036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luggage &amp; passports. Urgent need for GPS tracking abroad.</a:t>
            </a:r>
            <a:endParaRPr lang="en-US" sz="860" dirty="0"/>
          </a:p>
        </p:txBody>
      </p:sp>
      <p:sp>
        <p:nvSpPr>
          <p:cNvPr id="24" name="Shape 18"/>
          <p:cNvSpPr/>
          <p:nvPr/>
        </p:nvSpPr>
        <p:spPr>
          <a:xfrm>
            <a:off x="9513418" y="1600200"/>
            <a:ext cx="203545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20249" y="178308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C:\Users\Umair Ul Hassan\.gemini\antigravity\scratch\vouch-website\slides\assets\icons\build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61" y="1926092"/>
            <a:ext cx="335768" cy="3357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4858" y="2514600"/>
            <a:ext cx="1852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130" dirty="0"/>
          </a:p>
        </p:txBody>
      </p:sp>
      <p:sp>
        <p:nvSpPr>
          <p:cNvPr id="28" name="Text 21"/>
          <p:cNvSpPr/>
          <p:nvPr/>
        </p:nvSpPr>
        <p:spPr>
          <a:xfrm>
            <a:off x="9623146" y="288036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keychains, office asset tags. Volume / B2B purchasing.</a:t>
            </a:r>
            <a:endParaRPr lang="en-US" sz="860" dirty="0"/>
          </a:p>
        </p:txBody>
      </p:sp>
      <p:sp>
        <p:nvSpPr>
          <p:cNvPr id="29" name="Shape 22"/>
          <p:cNvSpPr/>
          <p:nvPr/>
        </p:nvSpPr>
        <p:spPr>
          <a:xfrm>
            <a:off x="640080" y="3657600"/>
            <a:ext cx="10908792" cy="2103120"/>
          </a:xfrm>
          <a:prstGeom prst="roundRect">
            <a:avLst>
              <a:gd name="adj" fmla="val 3913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4400" y="3977640"/>
            <a:ext cx="1417320" cy="1417320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31" name="Image 5" descr="C:\Users\Umair Ul Hassan\.gemini\antigravity\scratch\vouch-website\slides\assets\icons\gra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30" y="4331970"/>
            <a:ext cx="708660" cy="7086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0604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SPOTLIGHT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606040" y="41148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“Ayesha, 20 — University Student”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2606040" y="45262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 university hostel; loses her room keys and student ID at least once a month, and once lost her wallet on campus for two days. Owns a mid-range smartphone, is budget-conscious, and is highly active on Instagram/TikTok.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2606040" y="51937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Never worry about a lost hostel key again — for under the price of a canteen meal.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EAFBF4"/>
          </a:solidFill>
          <a:ln w="12700">
            <a:solidFill>
              <a:srgbClr val="EAFBF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05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C:\Users\Umair Ul Hassan\.gemini\antigravity\scratch\vouch-website\slides\assets\icons\trend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110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34086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 — unique differentiator vs. AirTag/Tile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pricing fits nearly every budget (Rs. 199–2,999)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No-app-needed finder experience removes adoption friction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 keychain is a genuinely unique, hard-to-copy feature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208776" y="162763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10512"/>
            <a:ext cx="457200" cy="457200"/>
          </a:xfrm>
          <a:prstGeom prst="ellipse">
            <a:avLst/>
          </a:prstGeom>
          <a:solidFill>
            <a:srgbClr val="F1707D"/>
          </a:solidFill>
          <a:ln/>
        </p:spPr>
      </p:sp>
      <p:pic>
        <p:nvPicPr>
          <p:cNvPr id="11" name="Image 1" descr="C:\Users\Umair Ul Hassan\.gemini\antigravity\scratch\vouch-website\slides\assets\icons\trend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86016" y="18105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64808" y="234086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unfunded brand with zero market awareness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edition depends on battery life &amp; recharging habits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QR-hardware costs at low volume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retail presence yet at launch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EF6E3"/>
          </a:solidFill>
          <a:ln w="12700">
            <a:solidFill>
              <a:srgbClr val="FEF6E3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33672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6" name="Image 2" descr="C:\Users\Umair Ul Hassan\.gemini\antigravity\scratch\vouch-website\slides\assets\icons\st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3342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23367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96112" y="476402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Underserved, price-sensitive market in Pakistan &amp; South Asia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into pet tags, luggage tags, medical ID tags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 channel — low-cost, high-trust distribution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app can evolve into a B2B asset-tracking platform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6208776" y="4050792"/>
            <a:ext cx="5340096" cy="2194560"/>
          </a:xfrm>
          <a:prstGeom prst="roundRect">
            <a:avLst>
              <a:gd name="adj" fmla="val 3750"/>
            </a:avLst>
          </a:prstGeom>
          <a:solidFill>
            <a:srgbClr val="F1EDFB"/>
          </a:solidFill>
          <a:ln w="12700">
            <a:solidFill>
              <a:srgbClr val="F1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9944" y="4233672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C:\Users\Umair Ul Hassan\.gemini\antigravity\scratch\vouch-website\slides\assets\icons\alerttr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3342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423367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64808" y="4764024"/>
            <a:ext cx="48828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players (Apple, Samsung, Tile) could enter or cut prices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local counterfeits / copycat QR tags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barrier around a new privacy-tech brand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&amp; import-cost volatility affecting hardware margins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Segmentation, Targeting &amp; Positioning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47672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C:\Users\Umair Ul Hassan\.gemini\antigravity\scratch\vouch-website\slides\assets\icons\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090684"/>
            <a:ext cx="335768" cy="33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77824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students, young professionals, families, travellers, businesses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Geographic: Pakistan first, scalable to South Asia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Psychographic: privacy-conscious &amp; budget-conscious buyers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Behavioural: frequent losers of keys/wallets/bags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47672"/>
            <a:ext cx="621792" cy="62179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2" name="Image 1" descr="C:\Users\Umair Ul Hassan\.gemini\antigravity\scratch\vouch-website\slides\assets\icons\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090684"/>
            <a:ext cx="335768" cy="335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4599432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99432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students &amp; young professionals — highest loss frequency, price-sensitive, always online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families &amp; travellers — willing to pay more for GPS peace-of-mind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Tertiary: businesses — B2B volume orders for staff &amp; asset tags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targeting strategy across the 4-tier product line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8083296" y="1691640"/>
            <a:ext cx="3465576" cy="425196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947672"/>
            <a:ext cx="621792" cy="621792"/>
          </a:xfrm>
          <a:prstGeom prst="ellipse">
            <a:avLst/>
          </a:prstGeom>
          <a:solidFill>
            <a:srgbClr val="F0B429"/>
          </a:solidFill>
          <a:ln/>
        </p:spPr>
      </p:sp>
      <p:pic>
        <p:nvPicPr>
          <p:cNvPr id="18" name="Image 2" descr="C:\Users\Umair Ul Hassan\.gemini\antigravity\scratch\vouch-website\slides\assets\icons\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052" y="2090684"/>
            <a:ext cx="335768" cy="335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2002536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8321040" y="2743200"/>
            <a:ext cx="2990088" cy="0"/>
          </a:xfrm>
          <a:prstGeom prst="line">
            <a:avLst/>
          </a:prstGeom>
          <a:noFill/>
          <a:ln w="12700">
            <a:solidFill>
              <a:srgbClr val="E7E2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2926080"/>
            <a:ext cx="29900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privacy-first, affordable smart keychain for everyday people”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below AirTag/Tile on price, above them on finder-privacy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above traditional handwritten tags on trust &amp; technology</a:t>
            </a:r>
            <a:endParaRPr lang="en-US" sz="1030" dirty="0"/>
          </a:p>
          <a:p>
            <a:pPr marL="127000" indent="-127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local, culturally-relevant, no-app-needed experience</a:t>
            </a:r>
            <a:endParaRPr lang="en-US" sz="103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Vouch Stands in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“Protect everything you carry, without exposing who you are — at a price everyone can afford.”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C:\Users\Umair Ul Hassan\.gemini\antigravity\scratch\vouch-website\slides\assets\icons\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34670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218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nobody else offers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1234440" y="3502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or name ever shown to the finder — a true category first locally.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C:\Users\Umair Ul Hassan\.gemini\antigravity\scratch\vouch-website\slides\assets\icons\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40599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931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for every budget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1234440" y="42153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199 sticker to Rs. 2,999 GPS keychain — one brand, four entry points.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C:\Users\Umair Ul Hassan\.gemini\antigravity\scratch\vouch-website\slides\assets\icons\pho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7731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46451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for finders</a:t>
            </a:r>
            <a:endParaRPr lang="en-US" sz="1180" dirty="0"/>
          </a:p>
        </p:txBody>
      </p:sp>
      <p:sp>
        <p:nvSpPr>
          <p:cNvPr id="18" name="Text 13"/>
          <p:cNvSpPr/>
          <p:nvPr/>
        </p:nvSpPr>
        <p:spPr>
          <a:xfrm>
            <a:off x="1234440" y="4928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 to return a lost item — just scan and message.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172200" y="164592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4652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46520" y="2121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Privacy &amp; Smart-Tech Features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58000" y="2606040"/>
            <a:ext cx="0" cy="3108960"/>
          </a:xfrm>
          <a:prstGeom prst="line">
            <a:avLst/>
          </a:prstGeom>
          <a:noFill/>
          <a:ln w="19050">
            <a:solidFill>
              <a:srgbClr val="E7E2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0" y="5715000"/>
            <a:ext cx="4206240" cy="0"/>
          </a:xfrm>
          <a:prstGeom prst="line">
            <a:avLst/>
          </a:prstGeom>
          <a:noFill/>
          <a:ln w="19050">
            <a:solidFill>
              <a:srgbClr val="E7E2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63640" y="23500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6263640" y="57607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400800" y="60076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PRIVACY / TECH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692640" y="60076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3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PRIVACY / TECH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10010851" y="3348533"/>
            <a:ext cx="256032" cy="25603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590227" y="363199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10561320" y="2896819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094976" y="308884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AirTag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10224821" y="3145536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758477" y="33375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112203" y="5446166"/>
            <a:ext cx="164592" cy="164592"/>
          </a:xfrm>
          <a:prstGeom prst="ellipse">
            <a:avLst/>
          </a:prstGeom>
          <a:solidFill>
            <a:srgbClr val="9CA3A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645859" y="563819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Tag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ELEMENTS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Logo, Slogan &amp; Brand Identity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434840" cy="4434840"/>
          </a:xfrm>
          <a:prstGeom prst="roundRect">
            <a:avLst>
              <a:gd name="adj" fmla="val 1856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pic>
        <p:nvPicPr>
          <p:cNvPr id="6" name="Image 0" descr="C:\Users\Umair Ul Hassan\.gemini\antigravity\scratch\vouch-website\slid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288036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0749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"Lost, But Never Gone."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Slogan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88720" y="5760720"/>
            <a:ext cx="3337560" cy="0"/>
          </a:xfrm>
          <a:prstGeom prst="line">
            <a:avLst/>
          </a:prstGeom>
          <a:noFill/>
          <a:ln w="12700">
            <a:solidFill>
              <a:srgbClr val="3B31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521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"Connect. Protect. Locate."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61447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Tagline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49240" y="178308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13" name="Image 1" descr="C:\Users\Umair Ul Hassan\.gemini\antigravity\scratch\vouch-website\slides\assets\icons\award2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633" y="1913473"/>
            <a:ext cx="306141" cy="306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1764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Symbol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080760" y="21031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“Vouch” signals trust and personal guarantee — the brand vouches for your belongings' safe return. The V-mark logo reflects a checkmark of assurance.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349240" y="283464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17" name="Image 2" descr="C:\Users\Umair Ul Hassan\.gemini\antigravity\scratch\vouch-website\slides\assets\icons\compas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33" y="296503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28163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Personality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080760" y="3154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modern, approachable and quietly clever — a tech brand that feels human, not corporate.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349240" y="3886200"/>
            <a:ext cx="566928" cy="566928"/>
          </a:xfrm>
          <a:prstGeom prst="ellipse">
            <a:avLst/>
          </a:prstGeom>
          <a:solidFill>
            <a:srgbClr val="C4B5FD"/>
          </a:solidFill>
          <a:ln/>
        </p:spPr>
      </p:sp>
      <p:pic>
        <p:nvPicPr>
          <p:cNvPr id="21" name="Image 3" descr="C:\Users\Umair Ul Hassan\.gemini\antigravity\scratch\vouch-website\slides\assets\icons\st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633" y="4016593"/>
            <a:ext cx="306141" cy="3061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3867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Story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080760" y="4206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conveys security &amp; reliability; purple/lavender signal modern tech and privacy; gold accents mark premium moments.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349240" y="5029200"/>
            <a:ext cx="6199632" cy="1234440"/>
          </a:xfrm>
          <a:prstGeom prst="roundRect">
            <a:avLst>
              <a:gd name="adj" fmla="val 6667"/>
            </a:avLst>
          </a:prstGeom>
          <a:solidFill>
            <a:srgbClr val="1F1839"/>
          </a:solidFill>
          <a:ln w="12700">
            <a:solidFill>
              <a:srgbClr val="3B3164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623560" y="51937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 in one line: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623560" y="546811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you lose, Vouch keeps the door open to getting it back — safely and privately.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Value-Based, Tiered &amp; Freemium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priced by tier to match the value delivered and local purchasing power; the platform layers a freemium subscription on top for recurring revenue.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7" name="Image 0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213" y="2484973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199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value pricing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424428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43884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3" name="Image 1" descr="C:\Users\Umair Ul Hassan\.gemini\antigravity\scratch\vouch-website\slides\assets\icons\key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561" y="2484973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3884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Keychain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43884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299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43884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Mid-tier, everyday branded product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6208776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8232" y="2368296"/>
            <a:ext cx="530352" cy="530352"/>
          </a:xfrm>
          <a:prstGeom prst="ellipse">
            <a:avLst/>
          </a:prstGeom>
          <a:solidFill>
            <a:srgbClr val="F1EDFB"/>
          </a:solidFill>
          <a:ln/>
        </p:spPr>
      </p:sp>
      <p:pic>
        <p:nvPicPr>
          <p:cNvPr id="19" name="Image 2" descr="C:\Users\Umair Ul Hassan\.gemini\antigravity\scratch\vouch-website\slides\assets\icons\volum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909" y="2484973"/>
            <a:ext cx="296997" cy="29699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28232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 Keychain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28232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1,299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28232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a unique feature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8993124" y="2148840"/>
            <a:ext cx="2555748" cy="1737360"/>
          </a:xfrm>
          <a:prstGeom prst="roundRect">
            <a:avLst>
              <a:gd name="adj" fmla="val 4737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12580" y="2368296"/>
            <a:ext cx="530352" cy="530352"/>
          </a:xfrm>
          <a:prstGeom prst="ellipse">
            <a:avLst/>
          </a:prstGeom>
          <a:solidFill>
            <a:srgbClr val="2A2150"/>
          </a:solidFill>
          <a:ln/>
        </p:spPr>
      </p:sp>
      <p:pic>
        <p:nvPicPr>
          <p:cNvPr id="25" name="Image 3" descr="C:\Users\Umair Ul Hassan\.gemini\antigravity\scratch\vouch-website\slides\assets\icons\satelli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257" y="2484973"/>
            <a:ext cx="296997" cy="29699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2580" y="300837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Ring Keychain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12580" y="3282696"/>
            <a:ext cx="21168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2,999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12580" y="3593592"/>
            <a:ext cx="2116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A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Flagship, tech-driven premium</a:t>
            </a:r>
            <a:endParaRPr lang="en-US" sz="880" dirty="0"/>
          </a:p>
        </p:txBody>
      </p:sp>
      <p:sp>
        <p:nvSpPr>
          <p:cNvPr id="29" name="Shape 23"/>
          <p:cNvSpPr/>
          <p:nvPr/>
        </p:nvSpPr>
        <p:spPr>
          <a:xfrm>
            <a:off x="640080" y="42062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1EDFB"/>
          </a:solidFill>
          <a:ln w="12700">
            <a:solidFill>
              <a:srgbClr val="F1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96112" y="44348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4" descr="C:\Users\Umair Ul Hassan\.gemini\antigravity\scratch\vouch-website\slides\assets\icons\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" y="454548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Freemium Subscription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96112" y="4892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a one-time purchase. The free tier covers core scan-and-notify functionality for every buyer; a premium subscription unlocks GPS live tracking history, multi-item family plans, and priority alerts.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6126480" y="4206240"/>
            <a:ext cx="5422392" cy="2011680"/>
          </a:xfrm>
          <a:prstGeom prst="roundRect">
            <a:avLst>
              <a:gd name="adj" fmla="val 4091"/>
            </a:avLst>
          </a:prstGeom>
          <a:solidFill>
            <a:srgbClr val="15102B"/>
          </a:solidFill>
          <a:ln w="12700">
            <a:solidFill>
              <a:srgbClr val="E7E2F5"/>
            </a:solidFill>
            <a:prstDash val="solid"/>
          </a:ln>
          <a:effectLst>
            <a:outerShdw sx="100000" sy="100000" kx="0" ky="0" algn="bl" rotWithShape="0" blurRad="114300" dist="38100" dir="5400000">
              <a:srgbClr val="3A2E5C">
                <a:alpha val="1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382512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PRICING WORKS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6382512" y="4736592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3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captures both budget buyers and premium spenders in one brand</a:t>
            </a:r>
            <a:endParaRPr lang="en-US" sz="103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3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removes the barrier to first purchase and drives platform adoption</a:t>
            </a:r>
            <a:endParaRPr lang="en-US" sz="103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30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bands stay well below AirTag/Tile even at the GPS flagship tier</a:t>
            </a:r>
            <a:endParaRPr lang="en-US" sz="1030" dirty="0"/>
          </a:p>
        </p:txBody>
      </p:sp>
      <p:sp>
        <p:nvSpPr>
          <p:cNvPr id="37" name="Text 30"/>
          <p:cNvSpPr/>
          <p:nvPr/>
        </p:nvSpPr>
        <p:spPr>
          <a:xfrm>
            <a:off x="457200" y="6492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 •  PRINCIPLES OF MARKETING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2026-07-10T14:30:19Z</dcterms:created>
  <dcterms:modified xsi:type="dcterms:W3CDTF">2026-07-10T14:30:19Z</dcterms:modified>
</cp:coreProperties>
</file>