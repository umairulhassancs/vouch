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183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E1830"/>
                </a:solidFill>
                <a:latin typeface="Arial"/>
              </a:rPr>
              <a:t>Global Smart-Tracker Category — Directional Growth Curve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market growth trend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Today</c:v>
                  </c:pt>
                  <c:pt idx="1">
                    <c:v>+2 yrs</c:v>
                  </c:pt>
                  <c:pt idx="2">
                    <c:v>+4 yrs</c:v>
                  </c:pt>
                  <c:pt idx="3">
                    <c:v>+6 yrs</c:v>
                  </c:pt>
                  <c:pt idx="4">
                    <c:v>+8 yrs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25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8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9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5.png"/><Relationship Id="rId10" Type="http://schemas.openxmlformats.org/officeDocument/2006/relationships/image" Target="../media/image-17-6.png"/><Relationship Id="rId11" Type="http://schemas.openxmlformats.org/officeDocument/2006/relationships/image" Target="../media/image-17-7.png"/><Relationship Id="rId12" Type="http://schemas.openxmlformats.org/officeDocument/2006/relationships/image" Target="../media/image-17-8.png"/><Relationship Id="rId13" Type="http://schemas.openxmlformats.org/officeDocument/2006/relationships/image" Target="../media/image-17-5.png"/><Relationship Id="rId14" Type="http://schemas.openxmlformats.org/officeDocument/2006/relationships/image" Target="../media/image-17-6.png"/><Relationship Id="rId15" Type="http://schemas.openxmlformats.org/officeDocument/2006/relationships/image" Target="../media/image-17-7.png"/><Relationship Id="rId16" Type="http://schemas.openxmlformats.org/officeDocument/2006/relationships/image" Target="../media/image-17-8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" name="Image 0" descr="C:\Users\Umair Ul Hassan\.gemini\antigravity\scratch\vouch-website\slid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86868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2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Marketing — Project Presentation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0" y="3401568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0" y="429768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Lost &amp; Found Ecosystem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3524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Ul Hassan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3252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221370060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9292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89020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Waqas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89020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221370068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5060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4788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Zunair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04788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221400101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10828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20556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 Waris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020556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251350074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743200"/>
            <a:ext cx="7315200" cy="731520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7" name="Image 0" descr="C:\Users\Umair Ul Hassan\.gemini\antigravity\scratch\vouch-website\slides\assets\icons\search_lav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05" y="2306665"/>
            <a:ext cx="306141" cy="306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19856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Problem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overview, problem statement &amp; survey insights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1688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3" name="Image 1" descr="C:\Users\Umair Ul Hassan\.gemini\antigravity\scratch\vouch-website\slides\assets\icons\bulb_lav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13" y="2306665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Validation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Vouch ecosystem flow &amp; research methodology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3296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9328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9" name="Image 2" descr="C:\Users\Umair Ul Hassan\.gemini\antigravity\scratch\vouch-website\slides\assets\icons\users_lav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721" y="2306665"/>
            <a:ext cx="306141" cy="306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63072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39328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Products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39328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opportunity, target segments &amp; 4-tier product line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6112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5" name="Image 3" descr="C:\Users\Umair Ul Hassan\.gemini\antigravity\scratch\vouch-website\slides\assets\icons\compass_laven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05" y="4437217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19856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96112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Branding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96112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positioning map &amp; brand visual identity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61688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17720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31" name="Image 4" descr="C:\Users\Umair Ul Hassan\.gemini\antigravity\scratch\vouch-website\slides\assets\icons\dollar_laven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3" y="4437217"/>
            <a:ext cx="306141" cy="30614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41464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617720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(4Ps)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617720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strategy, promotion plan &amp; distribution channels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083296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39328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37" name="Image 5" descr="C:\Users\Umair Ul Hassan\.gemini\antigravity\scratch\vouch-website\slides\assets\icons\flag_laven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721" y="4437217"/>
            <a:ext cx="306141" cy="30614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863072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339328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8339328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view, operational risks &amp; growth roadmap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Vouch?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is a </a:t>
            </a:r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Smart Lost &amp; Found ecosystem</a:t>
            </a:r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around QR and GPS-enabled keychains. When someone loses a belonging, a finder simply scans the QR code — no app required — and the owner is notified instantly with time, location, and a secure message option, without ever revealing personal information to the finder.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sells </a:t>
            </a:r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products</a:t>
            </a:r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price points — from an adhesive QR sticker to a premium GPS keychain — backed by a freemium app and website, serving students, professionals, families and travellers.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6309360" cy="1417320"/>
          </a:xfrm>
          <a:prstGeom prst="roundRect">
            <a:avLst>
              <a:gd name="adj" fmla="val 580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6177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brand promise driving every product decision, message and interaction.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160020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182880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1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254" y="1986534"/>
            <a:ext cx="370332" cy="3703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58200" y="17465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58200" y="2221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60920" y="301752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6" name="Image 1" descr="C:\Users\Umair Ul Hassan\.gemini\antigravity\scratch\vouch-website\slides\assets\icons\dolla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54" y="3403854"/>
            <a:ext cx="370332" cy="3703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58200" y="31638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199–3,499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45820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60920" y="443484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589520" y="466344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21" name="Image 2" descr="C:\Users\Umair Ul Hassan\.gemini\antigravity\scratch\vouch-website\slides\assets\icons\phon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54" y="4821174"/>
            <a:ext cx="370332" cy="3703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58200" y="45811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458200" y="5056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model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Everyday Problem We're Solving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keys, wallets, bags, or other everyday items is one of the most common and frustrating experiences people face — ranging from a minor inconvenience to a serious loss of IDs, passports, or medical items.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" name="Image 0" descr="C:\Users\Umair Ul Hassan\.gemini\antigravity\scratch\vouch-website\slides\assets\icons\aler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8003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670048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trackers (AirTag, Tile) require a smartphone, cost more, and raise privacy concerns for the finder.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9" name="Image 1" descr="C:\Users\Umair Ul Hassan\.gemini\antigravity\scratch\vouch-website\slides\assets\icons\ey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45871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328416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phone number on a keychain exposes personal data to any stranger who finds it.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014216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2" name="Image 2" descr="C:\Users\Umair Ul Hassan\.gemini\antigravity\scratch\vouch-website\slides\assets\icons\glob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11708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986784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affordable, privacy-focused, locally accessible solution exists in markets like Pakistan.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315200" y="1572768"/>
            <a:ext cx="4251960" cy="4617720"/>
          </a:xfrm>
          <a:prstGeom prst="roundRect">
            <a:avLst>
              <a:gd name="adj" fmla="val 1935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63524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SNAPSHOT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63524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survey of ~40 students &amp; hostel residents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635240" y="26060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77824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keys/wallet at least monthly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635240" y="331927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778240" y="3319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misplaced items inside their own home/hostel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35240" y="403250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8778240" y="40325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use no protection method at all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635240" y="474573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778240" y="4745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try an affordable QR tag if available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635240" y="5477256"/>
            <a:ext cx="361188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635240" y="55961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insight from our own research process — not a published statistic.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Vouch Ecosystem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keychain — a complete privacy-first ecosystem. All products connect to one platform, share the same secure contact system, and deliver the same instant notification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7285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5935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a QR sticker or clip a keychain onto anything you value — keys, wallet, bag, laptop.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87368" y="3044952"/>
            <a:ext cx="402336" cy="402336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1" name="Image 1" descr="C:\Users\Umair Ul Hassan\.gemini\antigravity\scratch\vouch-website\slides\assets\icons\arr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94" y="3135478"/>
            <a:ext cx="221285" cy="22128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23317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2" descr="C:\Users\Umair Ul Hassan\.gemini\antigravity\scratch\vouch-website\slides\assets\icons\qr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30" y="27285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83480" y="35935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finder scans the QR with any phone camera. No app needed. They land on a private contact page.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02168" y="3044952"/>
            <a:ext cx="402336" cy="402336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8" name="Image 3" descr="C:\Users\Umair Ul Hassan\.gemini\antigravity\scratch\vouch-website\slides\assets\icons\arrow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694" y="3135478"/>
            <a:ext cx="221285" cy="22128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869680" y="23317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0982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4" descr="C:\Users\Umair Ul Hassan\.gemini\antigravity\scratch\vouch-website\slides\assets\icons\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530" y="2728570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9828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098280" y="35935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gets an instant notification with time, location &amp; a secure message — identity fully protected.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" y="4343400"/>
            <a:ext cx="10908792" cy="1508760"/>
          </a:xfrm>
          <a:prstGeom prst="roundRect">
            <a:avLst>
              <a:gd name="adj" fmla="val 5455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14400" y="4645152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6" name="Image 5" descr="C:\Users\Umair Ul Hassan\.gemini\antigravity\scratch\vouch-website\slides\assets\icons\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1" y="4834433"/>
            <a:ext cx="444398" cy="4443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455371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Design — Vouch's Strongest Differentiator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1965960" y="493776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finder scans a Vouch QR, they see a secure contact page — never a real name, phone number, or address. The owner controls exactly what's shared: first name only, masked-number calling, or emergency contact info for critical items.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Conducted Our Research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began with lived, everyday experience rather than a desk study — then we validated it with peers before designing the product.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29" y="2489545"/>
            <a:ext cx="306141" cy="306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72334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Observation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own hostel rooms and homes, we repeatedly struggled to find car keys, bike keys, and house keys — misplaced within the room or dropped just outside. This first-hand frustration was the spark for Vouch.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31286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0742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C:\Users\Umair Ul Hassan\.gemini\antigravity\scratch\vouch-website\slides\assets\icons\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135" y="2489545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354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0742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Interviews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0742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discussed the problem informally with friends and classmates. The pattern repeated: nearly everyone had a story of losing keys, wallets, or ID cards, often more than once.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22492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1948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C:\Users\Umair Ul Hassan\.gemini\antigravity\scratch\vouch-website\slides\assets\icons\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41" y="2489545"/>
            <a:ext cx="306141" cy="306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54746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1948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Survey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41948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gathered quick feedback from ~40 students and hostel residents on frequency of loss, current coping habits, and willingness to pay for a solution — used directionally, not as formal statistics.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13698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33154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3" descr="C:\Users\Umair Ul Hassan\.gemini\antigravity\scratch\vouch-website\slides\assets\icons\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547" y="2489545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45952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33154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Scan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233154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reviewed existing options — Apple AirTag, Tile, and handwritten phone-number tags — to understand pricing, privacy gaps, and accessibility issues in the local market.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Market, an Underserved Segment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market-research reports place the global smart tracker category in the hundreds of millions to low billions of dollars today, with most forecasts pointing to sustained double-digit annual growth (CAGR) through the early 2030s — but coverage of affordable, privacy-first solutions for developing markets remains thin.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423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242316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65392" y="2624328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C:\Users\Umair Ul Hassan\.gemini\antigravity\scratch\vouch-website\slides\assets\icons\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17" y="2775753"/>
            <a:ext cx="355519" cy="355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640" y="25328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first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06640" y="28529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geographic focus with clear scalability into other South Asian markets.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3666744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3867912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C:\Users\Umair Ul Hassan\.gemini\antigravity\scratch\vouch-website\slides\assets\icons\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17" y="4019337"/>
            <a:ext cx="355519" cy="3555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3776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need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406640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 who carries keys, a wallet, a bag, or valuables is an addressable customer.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55080" y="4910328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65392" y="5111496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C:\Users\Umair Ul Hassan\.gemini\antigravity\scratch\vouch-website\slides\assets\icons\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817" y="5262921"/>
            <a:ext cx="355519" cy="355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50200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06640" y="534009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trackers (AirTag/Tile) price out students &amp; everyday consumers in developing markets — Vouch's tiers start far lower.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Products, One Platform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1907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157" y="215249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Sticker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199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14400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adhesive label. No battery. Best for minimalists &amp; gifting.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31286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3113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3" name="Image 1" descr="C:\Users\Umair Ul Hassan\.gemini\antigravity\scratch\vouch-website\slides\assets\icons\key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363" y="2152498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8446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Keychain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568446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299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3705606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32454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branded keychain, premium build. Ideal for house, car &amp; office keys.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22492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4319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20" name="Image 2" descr="C:\Users\Umair Ul Hassan\.gemini\antigravity\scratch\vouch-website\slides\assets\icons\volum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569" y="2152498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9652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Whistle Keychain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359652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1,299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6496812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23660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when it detects a whistle — no app needed to trigger. Great for items lost at home.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013698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15525" y="1984248"/>
            <a:ext cx="731520" cy="73152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7" name="Image 3" descr="C:\Users\Umair Ul Hassan\.gemini\antigravity\scratch\vouch-website\slides\assets\icons\satelli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3775" y="2152498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0858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Ring Keychain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9150858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2,999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9288018" y="3813048"/>
            <a:ext cx="1986534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14866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+ real GPS tracking. Remote ring &amp; live map location. For travellers &amp; pros.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714357" y="1801368"/>
            <a:ext cx="1133856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</p:sp>
      <p:sp>
        <p:nvSpPr>
          <p:cNvPr id="33" name="Text 27"/>
          <p:cNvSpPr/>
          <p:nvPr/>
        </p:nvSpPr>
        <p:spPr>
          <a:xfrm>
            <a:off x="9714357" y="180136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5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connect to the same app &amp; website: multi-item dashboard, Lost/Safe toggle, instant alerts, scan log, and secure finder messaging.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Vouch For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3545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6911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C:\Users\Umair Ul Hassan\.gemini\antigravity\scratch\vouch-website\slides\assets\icons\gr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923" y="1926092"/>
            <a:ext cx="335768" cy="33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880360"/>
            <a:ext cx="18159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losing keys, bags &amp; stationery. Price-sensitive, heavy smartphone users.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8414" y="1600200"/>
            <a:ext cx="203545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5246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1" name="Image 1" descr="C:\Users\Umair Ul Hassan\.gemini\antigravity\scratch\vouch-website\slides\assets\icons\briefc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258" y="1926092"/>
            <a:ext cx="335768" cy="335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9854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68142" y="2880360"/>
            <a:ext cx="18159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schedules, multiple keys (home/car/office). Value convenience &amp; privacy.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76749" y="1600200"/>
            <a:ext cx="203545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C:\Users\Umair Ul Hassan\.gemini\antigravity\scratch\vouch-website\slides\assets\icons\ho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592" y="1926092"/>
            <a:ext cx="335768" cy="335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8189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86477" y="2880360"/>
            <a:ext cx="18159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tracking kids' school bags; elderly members who misplace items often.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95083" y="1600200"/>
            <a:ext cx="203545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914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C:\Users\Umair Ul Hassan\.gemini\antigravity\scratch\vouch-website\slides\assets\icons\pla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927" y="1926092"/>
            <a:ext cx="335768" cy="335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6523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04811" y="2880360"/>
            <a:ext cx="18159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luggage &amp; passports. Urgent need for GPS tracking abroad.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13418" y="1600200"/>
            <a:ext cx="203545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20249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C:\Users\Umair Ul Hassan\.gemini\antigravity\scratch\vouch-website\slides\assets\icons\build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61" y="1926092"/>
            <a:ext cx="335768" cy="3357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4858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23146" y="2880360"/>
            <a:ext cx="18159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keychains, office asset tags. Volume / B2B purchasing.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" y="3794760"/>
            <a:ext cx="10908792" cy="1965960"/>
          </a:xfrm>
          <a:prstGeom prst="roundRect">
            <a:avLst>
              <a:gd name="adj" fmla="val 418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4400" y="4069080"/>
            <a:ext cx="1325880" cy="1325880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31" name="Image 5" descr="C:\Users\Umair Ul Hassan\.gemini\antigravity\scratch\vouch-website\slides\assets\icons\gra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870" y="4400550"/>
            <a:ext cx="662940" cy="6629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060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SPOTLIGHT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606040" y="42336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“Ayesha, 20 — University Student”</a:t>
            </a:r>
            <a:endParaRPr lang="en-US" sz="1850" dirty="0"/>
          </a:p>
        </p:txBody>
      </p:sp>
      <p:sp>
        <p:nvSpPr>
          <p:cNvPr id="34" name="Text 26"/>
          <p:cNvSpPr/>
          <p:nvPr/>
        </p:nvSpPr>
        <p:spPr>
          <a:xfrm>
            <a:off x="2606040" y="46177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 university hostel; loses her room keys and student ID at least once a month, and once lost her wallet on campus for two days. Owns a mid-range smartphone, is budget-conscious, and is highly active on Instagram/TikTok.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2606040" y="52760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Never worry about a lost hostel key again — for under the price of a canteen meal.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05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C:\Users\Umair Ul Hassan\.gemini\antigravity\scratch\vouch-website\slides\assets\icons\trend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110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34086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 — unique differentiator vs. AirTag/Tile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pricing fits nearly every budget (Rs. 199–2,999)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No-app-needed finder experience removes adoption friction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 keychain is a genuinely unique, hard-to-copy feature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62763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10512"/>
            <a:ext cx="457200" cy="457200"/>
          </a:xfrm>
          <a:prstGeom prst="ellipse">
            <a:avLst/>
          </a:prstGeom>
          <a:solidFill>
            <a:srgbClr val="F1707D"/>
          </a:solidFill>
          <a:ln/>
        </p:spPr>
      </p:sp>
      <p:pic>
        <p:nvPicPr>
          <p:cNvPr id="11" name="Image 1" descr="C:\Users\Umair Ul Hassan\.gemini\antigravity\scratch\vouch-website\slides\assets\icons\trend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86016" y="18105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64808" y="234086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unfunded brand with zero market awareness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edition depends on battery life &amp; recharging habits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QR-hardware costs at low volume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retail presence yet at launch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EF6E3"/>
          </a:solidFill>
          <a:ln w="12700">
            <a:solidFill>
              <a:srgbClr val="FEF6E3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33672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6" name="Image 2" descr="C:\Users\Umair Ul Hassan\.gemini\antigravity\scratch\vouch-website\slides\assets\icons\st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3342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23367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96112" y="476402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Underserved, price-sensitive market in Pakistan &amp; South Asia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into pet tags, luggage tags, medical ID tags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 channel — low-cost, high-trust distribution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app can evolve into a B2B asset-tracking platform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405079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1EDFB"/>
          </a:solidFill>
          <a:ln w="12700">
            <a:solidFill>
              <a:srgbClr val="F1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9944" y="423367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C:\Users\Umair Ul Hassan\.gemini\antigravity\scratch\vouch-website\slides\assets\icons\alerttr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342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423367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64808" y="476402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players (Apple, Samsung, Tile) could enter or cut prices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local counterfeits / copycat QR tags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barrier around a new privacy-tech brand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&amp; import-cost volatility affecting hardware margins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Segmentation, Targeting &amp; Positioning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476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C:\Users\Umair Ul Hassan\.gemini\antigravity\scratch\vouch-website\slides\assets\icons\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090684"/>
            <a:ext cx="335768" cy="33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7824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students, young professionals, families, travellers, businesses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Geographic: Pakistan first, scalable to South Asia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Psychographic: privacy-conscious &amp; budget-conscious buyers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Behavioural: frequent losers of keys/wallets/bags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47672"/>
            <a:ext cx="621792" cy="62179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2" name="Image 1" descr="C:\Users\Umair Ul Hassan\.gemini\antigravity\scratch\vouch-website\slides\assets\icons\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090684"/>
            <a:ext cx="335768" cy="335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99432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99432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students &amp; young professionals — highest loss frequency, price-sensitive, always online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families &amp; travellers — willing to pay more for GPS peace-of-mind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Tertiary: businesses — B2B volume orders for staff &amp; asset tags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targeting strategy across the 4-tier product line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947672"/>
            <a:ext cx="621792" cy="621792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8" name="Image 2" descr="C:\Users\Umair Ul Hassan\.gemini\antigravity\scratch\vouch-website\slides\assets\icons\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052" y="2090684"/>
            <a:ext cx="335768" cy="335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321040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privacy-first, affordable smart keychain for everyday people”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below AirTag/Tile on price, above them on finder-privacy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above traditional handwritten tags on trust &amp; technology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local, culturally-relevant, no-app-needed experience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Vouch Stands in the Market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“Protect everything you carry, without exposing who you are — at a price everyone can afford.”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C:\Users\Umair Ul Hassan\.gemini\antigravity\scratch\vouch-website\slides\assets\icons\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3467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nobody else offers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3502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or name ever shown to the finder — a true category first locally.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C:\Users\Umair Ul Hassan\.gemini\antigravity\scratch\vouch-website\slides\assets\icons\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40599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931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for every budget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34440" y="4215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199 sticker to Rs. 2,999 GPS keychain — one brand, four entry points.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C:\Users\Umair Ul Hassan\.gemini\antigravity\scratch\vouch-website\slides\assets\icons\pho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7731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46451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for finders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34440" y="4928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 to return a lost item — just scan and message.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164592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4652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46520" y="2121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Privacy &amp; Smart-Tech Features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0" y="2606040"/>
            <a:ext cx="0" cy="3108960"/>
          </a:xfrm>
          <a:prstGeom prst="line">
            <a:avLst/>
          </a:prstGeom>
          <a:noFill/>
          <a:ln w="19050">
            <a:solidFill>
              <a:srgbClr val="E7E2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0" y="5715000"/>
            <a:ext cx="4206240" cy="0"/>
          </a:xfrm>
          <a:prstGeom prst="line">
            <a:avLst/>
          </a:prstGeom>
          <a:noFill/>
          <a:ln w="19050">
            <a:solidFill>
              <a:srgbClr val="E7E2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63640" y="23500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263640" y="57607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400800" y="60076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PRIVACY / TECH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692640" y="60076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PRIVACY / TECH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0010851" y="3348533"/>
            <a:ext cx="256032" cy="25603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590227" y="363199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10561320" y="2896819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094976" y="308884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AirTag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10224821" y="3145536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758477" y="33375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112203" y="5446166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645859" y="563819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Tag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ELEMENTS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Logo, Slogan &amp; Brand Identity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434840" cy="4434840"/>
          </a:xfrm>
          <a:prstGeom prst="roundRect">
            <a:avLst>
              <a:gd name="adj" fmla="val 1856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pic>
        <p:nvPicPr>
          <p:cNvPr id="6" name="Image 0" descr="C:\Users\Umair Ul Hassan\.gemini\antigravity\scratch\vouch-website\slid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288036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0749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Slogan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88720" y="5760720"/>
            <a:ext cx="333756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521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"Connect. Protect. Locate."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61447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Tagline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178308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13" name="Image 1" descr="C:\Users\Umair Ul Hassan\.gemini\antigravity\scratch\vouch-website\slides\assets\icons\award2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633" y="1913473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1764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Symbol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080760" y="2103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“Vouch” signals trust and personal guarantee — the brand vouches for your belongings' safe return. The V-mark logo reflects a checkmark of assurance.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349240" y="283464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17" name="Image 2" descr="C:\Users\Umair Ul Hassan\.gemini\antigravity\scratch\vouch-website\slides\assets\icons\compas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33" y="296503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816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Personality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080760" y="3154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modern, approachable and quietly clever — a tech brand that feels human, not corporate.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349240" y="388620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21" name="Image 3" descr="C:\Users\Umair Ul Hassan\.gemini\antigravity\scratch\vouch-website\slides\assets\icons\st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633" y="4016593"/>
            <a:ext cx="306141" cy="3061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3867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Story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80760" y="4206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conveys security &amp; reliability; purple/lavender signal modern tech and privacy; gold accents mark premium moments.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349240" y="5029200"/>
            <a:ext cx="6199632" cy="1234440"/>
          </a:xfrm>
          <a:prstGeom prst="roundRect">
            <a:avLst>
              <a:gd name="adj" fmla="val 6667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623560" y="51937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 in one line: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23560" y="546811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you lose, Vouch keeps the door open to getting it back — safely and privately.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Value-Based, Tiered &amp; Freemium Pricing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priced by tier to match the value delivered and local purchasing power; the platform layers a freemium subscription on top for recurring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7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213" y="2484973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199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value pricing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4428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43884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3" name="Image 1" descr="C:\Users\Umair Ul Hassan\.gemini\antigravity\scratch\vouch-website\slides\assets\icons\key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561" y="2484973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3884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Keychain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43884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299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43884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everyday branded product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08776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8232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9" name="Image 2" descr="C:\Users\Umair Ul Hassan\.gemini\antigravity\scratch\vouch-website\slides\assets\icons\volum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909" y="2484973"/>
            <a:ext cx="296997" cy="29699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28232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 Keychain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28232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1,299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28232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a unique feature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93124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12580" y="2368296"/>
            <a:ext cx="530352" cy="530352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5" name="Image 3" descr="C:\Users\Umair Ul Hassan\.gemini\antigravity\scratch\vouch-website\slides\assets\icons\satelli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257" y="2484973"/>
            <a:ext cx="296997" cy="29699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2580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Ring Keychain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12580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2,999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12580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Flagship, tech-driven premium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42062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1EDFB"/>
          </a:solidFill>
          <a:ln w="12700">
            <a:solidFill>
              <a:srgbClr val="F1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96112" y="44348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4" descr="C:\Users\Umair Ul Hassan\.gemini\antigravity\scratch\vouch-website\slides\assets\icons\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" y="454548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Freemium Subscription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896112" y="4892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a one-time purchase. The free tier covers core scan-and-notify functionality for every buyer; a premium subscription unlocks GPS live tracking history, multi-item family plans, and priority alerts.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26480" y="4206240"/>
            <a:ext cx="5422392" cy="2011680"/>
          </a:xfrm>
          <a:prstGeom prst="roundRect">
            <a:avLst>
              <a:gd name="adj" fmla="val 4091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382512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PRICING WORKS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382512" y="4736592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captures both budget buyers and premium spenders in one brand</a:t>
            </a:r>
            <a:endParaRPr lang="en-US" sz="120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removes the barrier to first purchase and drives platform adoption</a:t>
            </a:r>
            <a:endParaRPr lang="en-US" sz="120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bands stay well below AirTag/Tile even at the GPS flagship tier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Promotional Plan (IMC)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promotional mix targets digital-native students and professionals through social proof, on-campus networks, and referral loops.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5748" cy="393192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048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mega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48" y="2547884"/>
            <a:ext cx="335768" cy="335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15468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Social Ads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3721608"/>
            <a:ext cx="21168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video campaigns on Instagram Reels and TikTok. Focus on relatable, high-panic scenarios (losing keys right before an exam) vs. the quick, secure Vouch return process.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3424428" y="2148840"/>
            <a:ext cx="2555748" cy="393192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3884" y="24048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C:\Users\Umair Ul Hassan\.gemini\antigravity\scratch\vouch-website\slides\assets\icons\gr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896" y="2547884"/>
            <a:ext cx="335768" cy="335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3884" y="315468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Ambassadors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43884" y="3721608"/>
            <a:ext cx="21168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students at major partner universities (FAST, NUST, LUMS). Empower them with free merchandise, exclusive discount codes, and local hostel-level giveaways.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6208776" y="2148840"/>
            <a:ext cx="2555748" cy="393192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8232" y="24048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C:\Users\Umair Ul Hassan\.gemini\antigravity\scratch\vouch-website\slides\assets\icons\gif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44" y="2547884"/>
            <a:ext cx="335768" cy="335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8232" y="315468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Return Loops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28232" y="3721608"/>
            <a:ext cx="21168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who successfully return an item receive a 10% coupon for their next Vouch purchase. Owners get free replacement tags for successfully referring two friends.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8993124" y="2148840"/>
            <a:ext cx="2555748" cy="393192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2580" y="24048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C:\Users\Umair Ul Hassan\.gemini\antigravity\scratch\vouch-website\slides\assets\icons\briefc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592" y="2547884"/>
            <a:ext cx="335768" cy="335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2580" y="315468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Co-Branding Deals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12580" y="3721608"/>
            <a:ext cx="21168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bike dealerships, car showrooms, and high-end security firms to bundle custom-branded Vouch keychains directly with vehicle purchases.</a:t>
            </a:r>
            <a:endParaRPr lang="en-US" sz="118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Strategy: Multi-Channel Accessibility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drive quick adoption, Vouch uses a hybrid distribution strategy that combines frictionless D2C online shopping with localized physical touchpoints.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573122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 E-Commerce Store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96112" y="386791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primary active sales channel. Customers buy directly from our fully optimized web platform (vouch-six-ebon.vercel.app). Supports instant ordering, Cash on Delivery (COD), card payments, and custom multi-pack configurations.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8264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404872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C:\Users\Umair Ul Hassan\.gemini\antigravity\scratch\vouch-website\slides\assets\icons\hom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546" y="2573122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On-Campus Stalls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654296" y="386791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physical, student-run stalls at major universities (FAST, NUST, LUMS) during events, sports weeks, and exams. This allows direct hand-to-hand sales, face-to-face feedback, and instant brand activation.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56448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404872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C:\Users\Umair Ul Hassan\.gemini\antigravity\scratch\vouch-website\slides\assets\icons\sto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2573122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Outlets &amp; Marketplaces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412480" y="386791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Stocking keychains in local electronics, smartphone accessories, and lifestyle stores. Establishing an official Vouch store on Daraz for wider country-wide logistics support.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755380" y="2039112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6B6478"/>
          </a:solidFill>
          <a:ln/>
        </p:spPr>
      </p:sp>
      <p:sp>
        <p:nvSpPr>
          <p:cNvPr id="21" name="Text 16"/>
          <p:cNvSpPr/>
          <p:nvPr/>
        </p:nvSpPr>
        <p:spPr>
          <a:xfrm>
            <a:off x="8755380" y="2039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COLLABORATIONS</a:t>
            </a:r>
            <a:endParaRPr lang="en-US" sz="82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Landscape: Column Comparison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premium trackers exist, Vouch specifically targets the intersection of local affordability, user privacy, and frictionless finder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35174" cy="4160520"/>
          </a:xfrm>
          <a:prstGeom prst="roundRect">
            <a:avLst>
              <a:gd name="adj" fmla="val 3246"/>
            </a:avLst>
          </a:prstGeom>
          <a:solidFill>
            <a:srgbClr val="15102B"/>
          </a:solidFill>
          <a:ln w="12700">
            <a:solidFill>
              <a:srgbClr val="15102B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12848"/>
            <a:ext cx="22608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 (Our Product)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70048"/>
            <a:ext cx="2077974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80360"/>
            <a:ext cx="365760" cy="36576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9" name="Image 0" descr="C:\Users\Umair Ul Hassan\.gemini\antigravity\scratch\vouch-website\slides\assets\icons\qrcod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960827"/>
            <a:ext cx="204826" cy="2048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3464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Rs. 199 - 2,999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07008" y="307238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affordable local entry points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77240" y="3657600"/>
            <a:ext cx="365760" cy="36576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3" name="Image 1" descr="C:\Users\Umair Ul Hassan\.gemini\antigravity\scratch\vouch-website\slides\assets\icons\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" y="3738067"/>
            <a:ext cx="204826" cy="204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7008" y="361188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Privacy: Encrypted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207008" y="384962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secure web contact page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777240" y="4434840"/>
            <a:ext cx="365760" cy="36576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7" name="Image 2" descr="C:\Users\Umair Ul Hassan\.gemini\antigravity\scratch\vouch-website\slides\assets\icons\phon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4515307"/>
            <a:ext cx="204826" cy="204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38912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App: None Required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207008" y="462686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camera QR scan to report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777240" y="5212080"/>
            <a:ext cx="365760" cy="36576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1" name="Image 3" descr="C:\Users\Umair Ul Hassan\.gemini\antigravity\scratch\vouch-website\slides\assets\icons\glob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" y="5292547"/>
            <a:ext cx="204826" cy="204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516636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Focus: High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207008" y="540410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shipping, support &amp; pricing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1249299" y="1901952"/>
            <a:ext cx="1316736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25" name="Text 19"/>
          <p:cNvSpPr/>
          <p:nvPr/>
        </p:nvSpPr>
        <p:spPr>
          <a:xfrm>
            <a:off x="1249299" y="190195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431286" y="2011680"/>
            <a:ext cx="2535174" cy="41605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3568446" y="2212848"/>
            <a:ext cx="22608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AirTag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3659886" y="2670048"/>
            <a:ext cx="207797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568446" y="288036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30" name="Image 4" descr="C:\Users\Umair Ul Hassan\.gemini\antigravity\scratch\vouch-website\slides\assets\icons\dollar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913" y="2960827"/>
            <a:ext cx="204826" cy="20482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98214" y="283464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Rs. 9,000 - 12,000+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3998214" y="307238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single-item tracking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3568446" y="365760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34" name="Image 5" descr="C:\Users\Umair Ul Hassan\.gemini\antigravity\scratch\vouch-website\slides\assets\icons\shield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913" y="3738067"/>
            <a:ext cx="204826" cy="20482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998214" y="361188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Medium (Apple ID)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3998214" y="384962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details linked to Apple system</a:t>
            </a:r>
            <a:endParaRPr lang="en-US" sz="1080" dirty="0"/>
          </a:p>
        </p:txBody>
      </p:sp>
      <p:sp>
        <p:nvSpPr>
          <p:cNvPr id="37" name="Shape 29"/>
          <p:cNvSpPr/>
          <p:nvPr/>
        </p:nvSpPr>
        <p:spPr>
          <a:xfrm>
            <a:off x="3568446" y="443484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38" name="Image 6" descr="C:\Users\Umair Ul Hassan\.gemini\antigravity\scratch\vouch-website\slides\assets\icons\phone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8913" y="4515307"/>
            <a:ext cx="204826" cy="20482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998214" y="438912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App: None (NFC)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3998214" y="462686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native iOS/Android NFC reader</a:t>
            </a:r>
            <a:endParaRPr lang="en-US" sz="1080" dirty="0"/>
          </a:p>
        </p:txBody>
      </p:sp>
      <p:sp>
        <p:nvSpPr>
          <p:cNvPr id="41" name="Shape 32"/>
          <p:cNvSpPr/>
          <p:nvPr/>
        </p:nvSpPr>
        <p:spPr>
          <a:xfrm>
            <a:off x="3568446" y="521208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42" name="Image 7" descr="C:\Users\Umair Ul Hassan\.gemini\antigravity\scratch\vouch-website\slides\assets\icons\globe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913" y="5292547"/>
            <a:ext cx="204826" cy="20482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998214" y="516636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Focus: Low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3998214" y="540410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 support, high import markup</a:t>
            </a:r>
            <a:endParaRPr lang="en-US" sz="1080" dirty="0"/>
          </a:p>
        </p:txBody>
      </p:sp>
      <p:sp>
        <p:nvSpPr>
          <p:cNvPr id="45" name="Shape 35"/>
          <p:cNvSpPr/>
          <p:nvPr/>
        </p:nvSpPr>
        <p:spPr>
          <a:xfrm>
            <a:off x="6222492" y="2011680"/>
            <a:ext cx="2535174" cy="41605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6359652" y="2212848"/>
            <a:ext cx="22608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 Tracker</a:t>
            </a:r>
            <a:endParaRPr lang="en-US" sz="1500" dirty="0"/>
          </a:p>
        </p:txBody>
      </p:sp>
      <p:sp>
        <p:nvSpPr>
          <p:cNvPr id="47" name="Shape 37"/>
          <p:cNvSpPr/>
          <p:nvPr/>
        </p:nvSpPr>
        <p:spPr>
          <a:xfrm>
            <a:off x="6451092" y="2670048"/>
            <a:ext cx="207797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59652" y="288036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49" name="Image 8" descr="C:\Users\Umair Ul Hassan\.gemini\antigravity\scratch\vouch-website\slides\assets\icons\dollar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0119" y="2960827"/>
            <a:ext cx="204826" cy="20482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789420" y="283464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Rs. 6,000 - 8,000+</a:t>
            </a:r>
            <a:endParaRPr lang="en-US" sz="1150" dirty="0"/>
          </a:p>
        </p:txBody>
      </p:sp>
      <p:sp>
        <p:nvSpPr>
          <p:cNvPr id="51" name="Text 40"/>
          <p:cNvSpPr/>
          <p:nvPr/>
        </p:nvSpPr>
        <p:spPr>
          <a:xfrm>
            <a:off x="6789420" y="307238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Bluetooth tag pricing</a:t>
            </a:r>
            <a:endParaRPr lang="en-US" sz="1080" dirty="0"/>
          </a:p>
        </p:txBody>
      </p:sp>
      <p:sp>
        <p:nvSpPr>
          <p:cNvPr id="52" name="Shape 41"/>
          <p:cNvSpPr/>
          <p:nvPr/>
        </p:nvSpPr>
        <p:spPr>
          <a:xfrm>
            <a:off x="6359652" y="365760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53" name="Image 9" descr="C:\Users\Umair Ul Hassan\.gemini\antigravity\scratch\vouch-website\slides\assets\icons\shield_purp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0119" y="3738067"/>
            <a:ext cx="204826" cy="204826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789420" y="361188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Low (Direct Contact)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6789420" y="384962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owner phone/email on scan</a:t>
            </a:r>
            <a:endParaRPr lang="en-US" sz="1080" dirty="0"/>
          </a:p>
        </p:txBody>
      </p:sp>
      <p:sp>
        <p:nvSpPr>
          <p:cNvPr id="56" name="Shape 44"/>
          <p:cNvSpPr/>
          <p:nvPr/>
        </p:nvSpPr>
        <p:spPr>
          <a:xfrm>
            <a:off x="6359652" y="443484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57" name="Image 10" descr="C:\Users\Umair Ul Hassan\.gemini\antigravity\scratch\vouch-website\slides\assets\icons\phone_purp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0119" y="4515307"/>
            <a:ext cx="204826" cy="204826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789420" y="438912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App: Required</a:t>
            </a:r>
            <a:endParaRPr lang="en-US" sz="1150" dirty="0"/>
          </a:p>
        </p:txBody>
      </p:sp>
      <p:sp>
        <p:nvSpPr>
          <p:cNvPr id="59" name="Text 46"/>
          <p:cNvSpPr/>
          <p:nvPr/>
        </p:nvSpPr>
        <p:spPr>
          <a:xfrm>
            <a:off x="6789420" y="462686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install Tile app to report loss</a:t>
            </a:r>
            <a:endParaRPr lang="en-US" sz="1080" dirty="0"/>
          </a:p>
        </p:txBody>
      </p:sp>
      <p:sp>
        <p:nvSpPr>
          <p:cNvPr id="60" name="Shape 47"/>
          <p:cNvSpPr/>
          <p:nvPr/>
        </p:nvSpPr>
        <p:spPr>
          <a:xfrm>
            <a:off x="6359652" y="521208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1" name="Image 11" descr="C:\Users\Umair Ul Hassan\.gemini\antigravity\scratch\vouch-website\slides\assets\icons\globe_purp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0119" y="5292547"/>
            <a:ext cx="204826" cy="204826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6789420" y="516636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Focus: Low</a:t>
            </a:r>
            <a:endParaRPr lang="en-US" sz="1150" dirty="0"/>
          </a:p>
        </p:txBody>
      </p:sp>
      <p:sp>
        <p:nvSpPr>
          <p:cNvPr id="63" name="Text 49"/>
          <p:cNvSpPr/>
          <p:nvPr/>
        </p:nvSpPr>
        <p:spPr>
          <a:xfrm>
            <a:off x="6789420" y="540410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service or customization</a:t>
            </a:r>
            <a:endParaRPr lang="en-US" sz="1080" dirty="0"/>
          </a:p>
        </p:txBody>
      </p:sp>
      <p:sp>
        <p:nvSpPr>
          <p:cNvPr id="64" name="Shape 50"/>
          <p:cNvSpPr/>
          <p:nvPr/>
        </p:nvSpPr>
        <p:spPr>
          <a:xfrm>
            <a:off x="9013698" y="2011680"/>
            <a:ext cx="2535174" cy="41605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5" name="Text 51"/>
          <p:cNvSpPr/>
          <p:nvPr/>
        </p:nvSpPr>
        <p:spPr>
          <a:xfrm>
            <a:off x="9150858" y="2212848"/>
            <a:ext cx="22608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Keyring</a:t>
            </a:r>
            <a:endParaRPr lang="en-US" sz="1500" dirty="0"/>
          </a:p>
        </p:txBody>
      </p:sp>
      <p:sp>
        <p:nvSpPr>
          <p:cNvPr id="66" name="Shape 52"/>
          <p:cNvSpPr/>
          <p:nvPr/>
        </p:nvSpPr>
        <p:spPr>
          <a:xfrm>
            <a:off x="9242298" y="2670048"/>
            <a:ext cx="207797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9150858" y="288036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8" name="Image 12" descr="C:\Users\Umair Ul Hassan\.gemini\antigravity\scratch\vouch-website\slides\assets\icons\dollar_purp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1325" y="2960827"/>
            <a:ext cx="204826" cy="204826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9580626" y="283464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Rs. 50 - 100</a:t>
            </a:r>
            <a:endParaRPr lang="en-US" sz="1150" dirty="0"/>
          </a:p>
        </p:txBody>
      </p:sp>
      <p:sp>
        <p:nvSpPr>
          <p:cNvPr id="70" name="Text 55"/>
          <p:cNvSpPr/>
          <p:nvPr/>
        </p:nvSpPr>
        <p:spPr>
          <a:xfrm>
            <a:off x="9580626" y="307238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hardware cost</a:t>
            </a:r>
            <a:endParaRPr lang="en-US" sz="1080" dirty="0"/>
          </a:p>
        </p:txBody>
      </p:sp>
      <p:sp>
        <p:nvSpPr>
          <p:cNvPr id="71" name="Shape 56"/>
          <p:cNvSpPr/>
          <p:nvPr/>
        </p:nvSpPr>
        <p:spPr>
          <a:xfrm>
            <a:off x="9150858" y="365760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72" name="Image 13" descr="C:\Users\Umair Ul Hassan\.gemini\antigravity\scratch\vouch-website\slides\assets\icons\shield_purpl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1325" y="3738067"/>
            <a:ext cx="204826" cy="204826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9580626" y="361188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Zero (Raw Info)</a:t>
            </a:r>
            <a:endParaRPr lang="en-US" sz="1150" dirty="0"/>
          </a:p>
        </p:txBody>
      </p:sp>
      <p:sp>
        <p:nvSpPr>
          <p:cNvPr id="74" name="Text 58"/>
          <p:cNvSpPr/>
          <p:nvPr/>
        </p:nvSpPr>
        <p:spPr>
          <a:xfrm>
            <a:off x="9580626" y="384962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phone number to strangers</a:t>
            </a:r>
            <a:endParaRPr lang="en-US" sz="1080" dirty="0"/>
          </a:p>
        </p:txBody>
      </p:sp>
      <p:sp>
        <p:nvSpPr>
          <p:cNvPr id="75" name="Shape 59"/>
          <p:cNvSpPr/>
          <p:nvPr/>
        </p:nvSpPr>
        <p:spPr>
          <a:xfrm>
            <a:off x="9150858" y="443484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76" name="Image 14" descr="C:\Users\Umair Ul Hassan\.gemini\antigravity\scratch\vouch-website\slides\assets\icons\phone_purp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1325" y="4515307"/>
            <a:ext cx="204826" cy="204826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9580626" y="438912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App: None (Call)</a:t>
            </a:r>
            <a:endParaRPr lang="en-US" sz="1150" dirty="0"/>
          </a:p>
        </p:txBody>
      </p:sp>
      <p:sp>
        <p:nvSpPr>
          <p:cNvPr id="78" name="Text 61"/>
          <p:cNvSpPr/>
          <p:nvPr/>
        </p:nvSpPr>
        <p:spPr>
          <a:xfrm>
            <a:off x="9580626" y="462686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GSM phone call</a:t>
            </a:r>
            <a:endParaRPr lang="en-US" sz="1080" dirty="0"/>
          </a:p>
        </p:txBody>
      </p:sp>
      <p:sp>
        <p:nvSpPr>
          <p:cNvPr id="79" name="Shape 62"/>
          <p:cNvSpPr/>
          <p:nvPr/>
        </p:nvSpPr>
        <p:spPr>
          <a:xfrm>
            <a:off x="9150858" y="5212080"/>
            <a:ext cx="365760" cy="36576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80" name="Image 15" descr="C:\Users\Umair Ul Hassan\.gemini\antigravity\scratch\vouch-website\slides\assets\icons\globe_purp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1325" y="5292547"/>
            <a:ext cx="204826" cy="204826"/>
          </a:xfrm>
          <a:prstGeom prst="rect">
            <a:avLst/>
          </a:prstGeom>
        </p:spPr>
      </p:pic>
      <p:sp>
        <p:nvSpPr>
          <p:cNvPr id="81" name="Text 63"/>
          <p:cNvSpPr/>
          <p:nvPr/>
        </p:nvSpPr>
        <p:spPr>
          <a:xfrm>
            <a:off x="9580626" y="5166360"/>
            <a:ext cx="18493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Focus: High (Manual)</a:t>
            </a:r>
            <a:endParaRPr lang="en-US" sz="1150" dirty="0"/>
          </a:p>
        </p:txBody>
      </p:sp>
      <p:sp>
        <p:nvSpPr>
          <p:cNvPr id="82" name="Text 64"/>
          <p:cNvSpPr/>
          <p:nvPr/>
        </p:nvSpPr>
        <p:spPr>
          <a:xfrm>
            <a:off x="9580626" y="5404104"/>
            <a:ext cx="184937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entirely on local honesty</a:t>
            </a:r>
            <a:endParaRPr lang="en-US" sz="1080" dirty="0"/>
          </a:p>
        </p:txBody>
      </p:sp>
      <p:sp>
        <p:nvSpPr>
          <p:cNvPr id="83" name="Text 65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84" name="Text 66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Challenges &amp; Solutions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 hardware-software hybrid brand faces three distinct hurdles, each countered by a robust operational strategy.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DFCEF"/>
          </a:solidFill>
          <a:ln w="12700">
            <a:solidFill>
              <a:srgbClr val="F5ECE1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621792" cy="621792"/>
          </a:xfrm>
          <a:prstGeom prst="ellipse">
            <a:avLst/>
          </a:prstGeom>
          <a:solidFill>
            <a:srgbClr val="FEE8EB"/>
          </a:solidFill>
          <a:ln/>
        </p:spPr>
      </p:sp>
      <p:pic>
        <p:nvPicPr>
          <p:cNvPr id="7" name="Image 0" descr="C:\Users\Umair Ul Hassan\.gemini\antigravity\scratch\vouch-website\slides\assets\icons\aler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412" y="2429012"/>
            <a:ext cx="335768" cy="335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408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Launch Challenges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3063240"/>
            <a:ext cx="4663440" cy="0"/>
          </a:xfrm>
          <a:prstGeom prst="line">
            <a:avLst/>
          </a:prstGeom>
          <a:noFill/>
          <a:ln w="12700">
            <a:solidFill>
              <a:srgbClr val="F2E2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291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Finder Engagement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stranger scan the tag? They have no strict obligation to return it.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160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Battery Constraints (GPS)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and GPS modules drain coin cell battery power quickly, necessitating regular recharging/swaps.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0292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Manufacturing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microchips, high-quality plastic molds, and scratch-resistant QR surfaces locally is operationally difficult.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36792" y="201168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EBFBF4"/>
          </a:solidFill>
          <a:ln w="12700">
            <a:solidFill>
              <a:srgbClr val="DBF7EA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11112" y="2286000"/>
            <a:ext cx="621792" cy="621792"/>
          </a:xfrm>
          <a:prstGeom prst="ellipse">
            <a:avLst/>
          </a:prstGeom>
          <a:solidFill>
            <a:srgbClr val="DDF7EB"/>
          </a:solidFill>
          <a:ln/>
        </p:spPr>
      </p:sp>
      <p:pic>
        <p:nvPicPr>
          <p:cNvPr id="18" name="Image 1" descr="C:\Users\Umair Ul Hassan\.gemini\antigravity\scratch\vouch-website\slides\assets\icons\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24" y="2429012"/>
            <a:ext cx="335768" cy="3357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88352" y="23408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Mitigations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611112" y="3063240"/>
            <a:ext cx="4663440" cy="0"/>
          </a:xfrm>
          <a:prstGeom prst="line">
            <a:avLst/>
          </a:prstGeom>
          <a:noFill/>
          <a:ln w="12700">
            <a:solidFill>
              <a:srgbClr val="CBEF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11112" y="3291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Reward &amp; Karma Prompts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611112" y="3566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landing pages display instant finder reward vouchers, alongside a warm appeal to civic karma.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611112" y="4160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Hybrid Battery Design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611112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keychain uses a magnetic USB-C rechargeable cell; Whistle uses simple, replaceable CR2032 coin batteries.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611112" y="50292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Partnered Sourcing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611112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initial sticker manufacturing and custom QR engraving to high-precision local printers; scale B2B chips gradually.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Growth Roadmap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three-phase plan to scale Vouch from campus-level keychains to a broad enterprise asset-tracking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562606"/>
            <a:ext cx="370332" cy="370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Launch &amp; Scale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96112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96112" y="4087368"/>
            <a:ext cx="288036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2519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university campus launches. Build 5,000+ local Classic &amp; Whistle keychain sales; publish free Android/iOS companion apps; establish basic D2C distribution channels.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398264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4296" y="2404872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1" descr="C:\Users\Umair Ul Hassan\.gemini\antigravity\scratch\vouch-website\slides\assets\icons\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562606"/>
            <a:ext cx="370332" cy="3703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Product Extensions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54296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654296" y="4087368"/>
            <a:ext cx="288036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54296" y="42519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Vouch Pet Collars, Luggage Tags, and Passport Smart Sleeves. Roll out premium app subscription tiers (family group tracking, priority SMS scan alerts).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8156448" y="21488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0" y="2404872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2" descr="C:\Users\Umair Ul Hassan\.gemini\antigravity\scratch\vouch-website\slides\assets\icons\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214" y="2562606"/>
            <a:ext cx="370332" cy="3703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B2B Enterprise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412480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412480" y="4087368"/>
            <a:ext cx="288036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12480" y="42519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Enterprise Asset Portal. Volume sales to corporate clients for tracking laptops, employee identity badges, and delivery logistics gear (bags, tablets).</a:t>
            </a:r>
            <a:endParaRPr lang="en-US" sz="118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389120"/>
            <a:ext cx="5029200" cy="502920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Why Vouch Wins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92424" cy="3337560"/>
          </a:xfrm>
          <a:prstGeom prst="roundRect">
            <a:avLst>
              <a:gd name="adj" fmla="val 2466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76272"/>
            <a:ext cx="658368" cy="65836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8" name="Image 0" descr="C:\Users\Umair Ul Hassan\.gemini\antigravity\scratch\vouch-website\slides\assets\icons\bulb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7" y="2327697"/>
            <a:ext cx="355519" cy="3555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71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Customer-Centric Innovation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96112" y="3547872"/>
            <a:ext cx="288036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730752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solves an everyday pain point by blending hardware accessibility with robust web-based finder flows, removing all download barriers.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98264" y="1920240"/>
            <a:ext cx="3392424" cy="3337560"/>
          </a:xfrm>
          <a:prstGeom prst="roundRect">
            <a:avLst>
              <a:gd name="adj" fmla="val 2466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4296" y="2176272"/>
            <a:ext cx="658368" cy="65836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4" name="Image 1" descr="C:\Users\Umair Ul Hassan\.gemini\antigravity\scratch\vouch-website\slides\assets\icons\trendu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21" y="2327697"/>
            <a:ext cx="355519" cy="3555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2971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Attractive Business Model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4654296" y="3547872"/>
            <a:ext cx="288036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54296" y="3730752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one-time hardware tags with high-margin recurring app subscriptions creates a resilient, high-margin revenue model.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56448" y="1920240"/>
            <a:ext cx="3392424" cy="3337560"/>
          </a:xfrm>
          <a:prstGeom prst="roundRect">
            <a:avLst>
              <a:gd name="adj" fmla="val 2466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2176272"/>
            <a:ext cx="658368" cy="65836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0" name="Image 2" descr="C:\Users\Umair Ul Hassan\.gemini\antigravity\scratch\vouch-website\slides\assets\icons\rock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905" y="2327697"/>
            <a:ext cx="355519" cy="35551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971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Future Horizon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8412480" y="3547872"/>
            <a:ext cx="288036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12480" y="3730752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local students, the technology scales directly into travel accessories, B2B logistics tracking, pet tagging, and medical IDs.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0" y="5623560"/>
            <a:ext cx="1218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spc="12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a smarter, privacy-first return network.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2026-07-10T14:53:52Z</dcterms:created>
  <dcterms:modified xsi:type="dcterms:W3CDTF">2026-07-10T14:53:52Z</dcterms:modified>
</cp:coreProperties>
</file>